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B429"/>
    <a:srgbClr val="1A1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7"/>
    <p:restoredTop sz="94610"/>
  </p:normalViewPr>
  <p:slideViewPr>
    <p:cSldViewPr snapToGrid="0" snapToObjects="1">
      <p:cViewPr>
        <p:scale>
          <a:sx n="161" d="100"/>
          <a:sy n="161" d="100"/>
        </p:scale>
        <p:origin x="144" y="-1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del panteón</c:v>
                </c:pt>
              </c:strCache>
            </c:strRef>
          </c:tx>
          <c:spPr>
            <a:solidFill>
              <a:srgbClr val="F0B429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Esmeraldas</c:v>
                </c:pt>
                <c:pt idx="1">
                  <c:v>Guayaquil</c:v>
                </c:pt>
                <c:pt idx="2">
                  <c:v>Ibarra</c:v>
                </c:pt>
                <c:pt idx="3">
                  <c:v>San Lorenzo</c:v>
                </c:pt>
                <c:pt idx="4">
                  <c:v>Ambuquí</c:v>
                </c:pt>
                <c:pt idx="5">
                  <c:v>Quito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26.9</c:v>
                </c:pt>
                <c:pt idx="1">
                  <c:v>17.3</c:v>
                </c:pt>
                <c:pt idx="2">
                  <c:v>7.7</c:v>
                </c:pt>
                <c:pt idx="3">
                  <c:v>7.7</c:v>
                </c:pt>
                <c:pt idx="4">
                  <c:v>5.8</c:v>
                </c:pt>
                <c:pt idx="5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F7-3646-AAB7-6E303BD61B0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C2C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  <c:showDLblsOverMax val="1"/>
  </c:chart>
  <c:spPr>
    <a:solidFill>
      <a:srgbClr val="FFFFFF"/>
    </a:solidFill>
    <a:ln w="12700" cap="flat">
      <a:solidFill>
        <a:srgbClr val="363636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 la élite activa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FB7-4840-A3BA-E6E0C5A50D7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FB7-4840-A3BA-E6E0C5A50D7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CFB7-4840-A3BA-E6E0C5A50D7D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CFB7-4840-A3BA-E6E0C5A50D7D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IDV</c:v>
                </c:pt>
                <c:pt idx="1">
                  <c:v>LDU</c:v>
                </c:pt>
                <c:pt idx="2">
                  <c:v>Católica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46.8</c:v>
                </c:pt>
                <c:pt idx="1">
                  <c:v>19.100000000000001</c:v>
                </c:pt>
                <c:pt idx="2">
                  <c:v>10.6</c:v>
                </c:pt>
                <c:pt idx="3">
                  <c:v>23.5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FB7-4840-A3BA-E6E0C5A50D7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2C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12700" cap="flat"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 w="12700" cap="flat">
      <a:solidFill>
        <a:srgbClr val="363636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Era pre-IDV</c:v>
                </c:pt>
              </c:strCache>
            </c:strRef>
          </c:tx>
          <c:spPr>
            <a:solidFill>
              <a:srgbClr val="9B9B96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Esmeraldas</c:v>
                </c:pt>
                <c:pt idx="1">
                  <c:v>Guayaquil</c:v>
                </c:pt>
                <c:pt idx="2">
                  <c:v>Santo Domingo</c:v>
                </c:pt>
                <c:pt idx="3">
                  <c:v>Quinindé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26.9</c:v>
                </c:pt>
                <c:pt idx="1">
                  <c:v>17.3</c:v>
                </c:pt>
                <c:pt idx="2">
                  <c:v>1.9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9A-5545-92F0-308B9859924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Era actual</c:v>
                </c:pt>
              </c:strCache>
            </c:strRef>
          </c:tx>
          <c:spPr>
            <a:solidFill>
              <a:srgbClr val="F0B429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Esmeraldas</c:v>
                </c:pt>
                <c:pt idx="1">
                  <c:v>Guayaquil</c:v>
                </c:pt>
                <c:pt idx="2">
                  <c:v>Santo Domingo</c:v>
                </c:pt>
                <c:pt idx="3">
                  <c:v>Quinindé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16.7</c:v>
                </c:pt>
                <c:pt idx="1">
                  <c:v>20.8</c:v>
                </c:pt>
                <c:pt idx="2">
                  <c:v>8.3000000000000007</c:v>
                </c:pt>
                <c:pt idx="3">
                  <c:v>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E9A-5545-92F0-308B9859924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overlap val="-1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2C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C2C2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 w="12700" cap="flat">
      <a:solidFill>
        <a:srgbClr val="363636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 máximo acumulado (€M)</c:v>
                </c:pt>
              </c:strCache>
            </c:strRef>
          </c:tx>
          <c:spPr>
            <a:solidFill>
              <a:srgbClr val="F0B429"/>
            </a:solidFill>
            <a:effectLst/>
          </c:spPr>
          <c:invertIfNegative val="0"/>
          <c:dLbls>
            <c:numFmt formatCode="&quot;€&quot;0.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Club dominante</c:v>
                </c:pt>
                <c:pt idx="1">
                  <c:v>Resto del sistema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361.3</c:v>
                </c:pt>
                <c:pt idx="1">
                  <c:v>116.4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A4-9640-BB9F-2EDADA0FAE2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2C2C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 w="12700" cap="flat"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 w="12700" cap="flat">
      <a:solidFill>
        <a:srgbClr val="363636"/>
      </a:solidFill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Ingreso anual estimado, año 3 (€k)</c:v>
                </c:pt>
              </c:strCache>
            </c:strRef>
          </c:tx>
          <c:spPr>
            <a:solidFill>
              <a:srgbClr val="F0B429"/>
            </a:solidFill>
            <a:effectLst/>
          </c:spPr>
          <c:invertIfNegative val="0"/>
          <c:dLbls>
            <c:numFmt formatCode="&quot;€&quot;0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Conservador</c:v>
                </c:pt>
                <c:pt idx="1">
                  <c:v>Base</c:v>
                </c:pt>
                <c:pt idx="2">
                  <c:v>Optimista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115</c:v>
                </c:pt>
                <c:pt idx="1">
                  <c:v>350</c:v>
                </c:pt>
                <c:pt idx="2">
                  <c:v>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AA-7043-AF72-D1C5DF25BF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C2C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  <c:showDLblsOverMax val="1"/>
  </c:chart>
  <c:spPr>
    <a:solidFill>
      <a:srgbClr val="FFFFFF"/>
    </a:solidFill>
    <a:ln w="12700" cap="flat">
      <a:solidFill>
        <a:srgbClr val="363636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4984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1554480" cy="5669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4688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Ecuador Después de IDV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5204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fricción y arquitectura de oportunidad para Natio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</a:t>
            </a:r>
            <a:r>
              <a:rPr lang="en-US" sz="11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100" dirty="0" err="1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</a:t>
            </a:r>
            <a:r>
              <a:rPr lang="en-US" sz="11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2026</a:t>
            </a:r>
            <a:endParaRPr lang="en-US" sz="1100" dirty="0"/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D8356F91-D04C-C171-F7C5-30A799D462B7}"/>
              </a:ext>
            </a:extLst>
          </p:cNvPr>
          <p:cNvSpPr/>
          <p:nvPr/>
        </p:nvSpPr>
        <p:spPr>
          <a:xfrm>
            <a:off x="548640" y="2124006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F0B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B0A91882-D2AE-4CF9-92A1-9A49AFC8288E}"/>
              </a:ext>
            </a:extLst>
          </p:cNvPr>
          <p:cNvSpPr txBox="1"/>
          <p:nvPr/>
        </p:nvSpPr>
        <p:spPr>
          <a:xfrm>
            <a:off x="548640" y="212400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EJECUTIVA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Siete movimientos, una sola tesis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20624" cy="420624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52144" y="1664208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tesis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52144" y="1984248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una frase: dónde debe jugar Natio y por qué.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420624" cy="420624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52144" y="2505456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ecosistemas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" y="2825496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dominante y el que Natio puede ocupar.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374136"/>
            <a:ext cx="420624" cy="420624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" y="3346704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cambió con IDV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" y="3666744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Concentración institucional, velocidad y economía.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215384"/>
            <a:ext cx="420624" cy="420624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" y="418795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mapa de oportunidad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" y="4507992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Cuencas capturadas vs. cuencas subcapitalizadas.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24448" y="1691640"/>
            <a:ext cx="420624" cy="420624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324448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27952" y="1664208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Walter Ayoví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27952" y="1984248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ícono a infraestructura de captación.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24448" y="2532888"/>
            <a:ext cx="420624" cy="420624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324448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927952" y="2505456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y plan de activación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927952" y="2825496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verticales, dieciocho meses, metas.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24448" y="3374136"/>
            <a:ext cx="420624" cy="420624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6324448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927952" y="3346704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927952" y="3666744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este reporte no promete.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 — Reporte Estratégico  ·  Confidencial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0058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TESIS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828800"/>
            <a:ext cx="99971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“Donde el sistema dominante agrega talento,</a:t>
            </a:r>
            <a:endParaRPr lang="en-US" sz="3400" dirty="0"/>
          </a:p>
          <a:p>
            <a:pPr marL="0" indent="0" algn="ctr">
              <a:lnSpc>
                <a:spcPts val="42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 debe agregar acceso.”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272888" y="3703320"/>
            <a:ext cx="1645920" cy="0"/>
          </a:xfrm>
          <a:prstGeom prst="line">
            <a:avLst/>
          </a:prstGeom>
          <a:noFill/>
          <a:ln w="1905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463040" y="4114800"/>
            <a:ext cx="92656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4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Ecuador ya no tiene un ecosistema de talento: tiene dos. Uno centralizado, veloz y ya</a:t>
            </a:r>
            <a:endParaRPr lang="en-US" sz="1400" dirty="0"/>
          </a:p>
          <a:p>
            <a:pPr marL="0" indent="0" algn="ctr">
              <a:lnSpc>
                <a:spcPts val="2100"/>
              </a:lnSpc>
              <a:buNone/>
            </a:pPr>
            <a:r>
              <a:rPr lang="en-US" sz="14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sobrecapitalizado de agencias. Otro —geográfico, institucional y comercial— donde la</a:t>
            </a:r>
            <a:endParaRPr lang="en-US" sz="1400" dirty="0"/>
          </a:p>
          <a:p>
            <a:pPr marL="0" indent="0" algn="ctr">
              <a:lnSpc>
                <a:spcPts val="2100"/>
              </a:lnSpc>
              <a:buNone/>
            </a:pPr>
            <a:r>
              <a:rPr lang="en-US" sz="14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 de valor sigue ocurriendo con baja competencia. Natio debe construir ahí.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DIAGNÓSTICO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ecosistemas, superpuestos y de distinta velocidad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18608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18608" cy="7772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1901952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ecosistema dominante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8726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743200"/>
            <a:ext cx="440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club forma el 46.8% de la élite activa del país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511517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456432"/>
            <a:ext cx="440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debut → exportación: ~1.7 años, el más rápido del sistema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16966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169664"/>
            <a:ext cx="440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docena de agencias ya compitiendo por el mismo inventario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88289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882896"/>
            <a:ext cx="440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Barcelona SC y el circuito de mayor volumen: representación cerrada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24448" y="1737360"/>
            <a:ext cx="5318608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9525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24448" y="1737360"/>
            <a:ext cx="5318608" cy="777240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644488" y="1901952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ecosistema periférico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644488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918808" y="2743200"/>
            <a:ext cx="440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Esmeraldas: 75% de su talento de élite se forma fuera del club dominante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644488" y="345643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918808" y="3456432"/>
            <a:ext cx="440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Santo Domingo y Quinindé: techos de €31–34M promedio, captura aún reciente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644488" y="416966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918808" y="4169664"/>
            <a:ext cx="440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Clubes tradicionales (Emelec, Barcelona, Nacional) siguen canalizando talento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644488" y="488289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918808" y="4882896"/>
            <a:ext cx="440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Corredor Ecuador–México: activo, histórico, sin agencia especializada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 — Reporte Estratégico  ·  Confidencial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IDV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talento de élite ya estaba concentrado — </a:t>
            </a:r>
            <a:r>
              <a:rPr lang="en-US" sz="2700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</a:t>
            </a: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antes de IDV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36.5%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9514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todo el panteón histórico</a:t>
            </a:r>
            <a:endParaRPr lang="en-US" sz="11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nació en la cuenca de Esmeraldas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6324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71.2%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2102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talento salió de solo</a:t>
            </a:r>
            <a:endParaRPr lang="en-US" sz="11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clubes formadores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8912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19.2%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9469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Emelec y El Nacional, cada uno</a:t>
            </a:r>
            <a:endParaRPr lang="en-US" sz="11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los dos mayores productores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1691640"/>
            <a:ext cx="7985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Geografía de origen de la élite (era pre-IDV, N=52)</a:t>
            </a:r>
            <a:endParaRPr lang="en-US" sz="125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3657600" y="2011680"/>
          <a:ext cx="7985455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 — Reporte Estratégico  ·  Confidencial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 DE IDV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club pasó a dominar la producción de élite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376993150"/>
              </p:ext>
            </p:extLst>
          </p:nvPr>
        </p:nvGraphicFramePr>
        <p:xfrm>
          <a:off x="548640" y="1691640"/>
          <a:ext cx="60350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8920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Participación en la formación de la élite activa (N=47, formados en Ecuador)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903720" y="1691640"/>
            <a:ext cx="4739335" cy="3566160"/>
          </a:xfrm>
          <a:prstGeom prst="roundRect">
            <a:avLst>
              <a:gd name="adj" fmla="val 1538"/>
            </a:avLst>
          </a:prstGeom>
          <a:solidFill>
            <a:srgbClr val="F5F5F3"/>
          </a:solidFill>
          <a:ln w="9525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223760" y="1920240"/>
            <a:ext cx="4099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ventaja real: velocidad, no volumen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223760" y="2423160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Edad de debut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223760" y="26700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17.6 años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9189720" y="2770632"/>
            <a:ext cx="1813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18.6 del resto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223760" y="3337560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Edad de exportación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223760" y="35844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19.3 años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9189720" y="3685032"/>
            <a:ext cx="1813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21.9 del resto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7223760" y="4251960"/>
            <a:ext cx="4099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debut → exportación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223760" y="44988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 años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9189720" y="4599432"/>
            <a:ext cx="1813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3.3 del resto — la mitad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 — Reporte Estratégico  ·  Confidencial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MAPA QUE NO CAMBIÓ (TANTO)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cuencas históricas persisten; lo nuevo es la visibilidad periférica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11094415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5778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Santo Domingo pasó de 1.9% a 8.3% y Quinindé de 0% a 6.3% — con techos de valorización de €31–34M promedio por jugador, entre los más altos del sistema.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 — Reporte Estratégico  ·  Confidencial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ECONOMÍA DEL SISTEMA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concentración de valor es mayor que la concentración de jugadores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51.2%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8658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jugadores de la muestra</a:t>
            </a:r>
            <a:endParaRPr lang="en-US" sz="11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del club dominante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4612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75.6%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0390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valor máximo acumulado</a:t>
            </a:r>
            <a:endParaRPr lang="en-US" sz="11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generan esos mismos jugadores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66344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2.96x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22122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máximo promedio por jugador</a:t>
            </a:r>
            <a:endParaRPr lang="en-US" sz="11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el resto del sistema</a:t>
            </a:r>
            <a:endParaRPr lang="en-US" sz="1100" dirty="0"/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1103532461"/>
              </p:ext>
            </p:extLst>
          </p:nvPr>
        </p:nvGraphicFramePr>
        <p:xfrm>
          <a:off x="4023360" y="1737360"/>
          <a:ext cx="7619695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023360" y="5532120"/>
            <a:ext cx="7619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la muestra detallada de 41 trayectorias documentadas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 — Reporte Estratégico  ·  Confidencial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CARTOGRAFÍA DE OPORTUNIDAD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el agua está sobresaturada, y dónde no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 rot="16200000">
            <a:off x="-1577340" y="36804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/ VOLUMEN DE PRODUCCIÓN →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5989320"/>
            <a:ext cx="9539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INSTITUCIONAL POR EL CLUB DOMINANTE →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920240" y="1783080"/>
            <a:ext cx="4769968" cy="2080260"/>
          </a:xfrm>
          <a:prstGeom prst="roundRect">
            <a:avLst>
              <a:gd name="adj" fmla="val 2637"/>
            </a:avLst>
          </a:prstGeom>
          <a:solidFill>
            <a:srgbClr val="FDF3DC"/>
          </a:solidFill>
          <a:ln w="9525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690208" y="1783080"/>
            <a:ext cx="4769968" cy="2080260"/>
          </a:xfrm>
          <a:prstGeom prst="roundRect">
            <a:avLst>
              <a:gd name="adj" fmla="val 2637"/>
            </a:avLst>
          </a:prstGeom>
          <a:solidFill>
            <a:srgbClr val="FBEAEA"/>
          </a:solidFill>
          <a:ln w="9525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920240" y="3863340"/>
            <a:ext cx="4769968" cy="2080260"/>
          </a:xfrm>
          <a:prstGeom prst="roundRect">
            <a:avLst>
              <a:gd name="adj" fmla="val 2637"/>
            </a:avLst>
          </a:prstGeom>
          <a:solidFill>
            <a:srgbClr val="F5F5F3"/>
          </a:solidFill>
          <a:ln w="9525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690208" y="3863340"/>
            <a:ext cx="4769968" cy="2080260"/>
          </a:xfrm>
          <a:prstGeom prst="roundRect">
            <a:avLst>
              <a:gd name="adj" fmla="val 2637"/>
            </a:avLst>
          </a:prstGeom>
          <a:solidFill>
            <a:srgbClr val="FDF3DC"/>
          </a:solidFill>
          <a:ln w="9525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148840" y="1965960"/>
            <a:ext cx="431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ESMERALDAS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2331720"/>
            <a:ext cx="43127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 1 — entrada estructural.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25% capturado por el club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dominante. Máximo volumen histórico.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918808" y="1965960"/>
            <a:ext cx="431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GUAYAQUIL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918808" y="2331720"/>
            <a:ext cx="43127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 roja. 88.9% ya capturado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el club dominante. Descartada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frente de entrada.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918808" y="4046220"/>
            <a:ext cx="431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SANTO DOMINGO / QUININDÉ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918808" y="4640580"/>
            <a:ext cx="43127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 2 — entrada táctica.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ya alta pero reciente.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Techos de €31–34M promedio.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148840" y="4046220"/>
            <a:ext cx="431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CHOTA / IMBABURA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148840" y="4411980"/>
            <a:ext cx="43127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 3 — exploración de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segunda fase, pendiente de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cuantificación institucional.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 — Reporte Estratégico  ·  Confidencial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ACTIVO DIFERENCIAL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Walter Ayoví: de ícono a infraestructura de captación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18608" cy="1874520"/>
          </a:xfrm>
          <a:prstGeom prst="roundRect">
            <a:avLst>
              <a:gd name="adj" fmla="val 2927"/>
            </a:avLst>
          </a:prstGeom>
          <a:solidFill>
            <a:srgbClr val="F5F5F3"/>
          </a:solidFill>
          <a:ln w="9525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39112"/>
            <a:ext cx="412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Pertenencia verificable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51760"/>
            <a:ext cx="476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Nacido en Camarones, Esmeraldas — el epicentro exacto de la cuenca que produjo el 36.5% del panteón histórico.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24448" y="1783080"/>
            <a:ext cx="5318608" cy="1874520"/>
          </a:xfrm>
          <a:prstGeom prst="roundRect">
            <a:avLst>
              <a:gd name="adj" fmla="val 2927"/>
            </a:avLst>
          </a:prstGeom>
          <a:solidFill>
            <a:srgbClr val="F5F5F3"/>
          </a:solidFill>
          <a:ln w="9525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98768" y="2057400"/>
            <a:ext cx="457200" cy="457200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59876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238848" y="2039112"/>
            <a:ext cx="412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Legitimidad institucional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598768" y="2651760"/>
            <a:ext cx="476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Formado </a:t>
            </a:r>
            <a:r>
              <a:rPr lang="en-US" sz="1100" dirty="0" err="1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1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Emelec</a:t>
            </a:r>
            <a:r>
              <a:rPr lang="en-US" sz="11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pero</a:t>
            </a:r>
            <a:r>
              <a:rPr lang="en-US" sz="11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paso notable </a:t>
            </a:r>
            <a:r>
              <a:rPr lang="en-US" sz="1100" dirty="0" err="1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1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Barcelona SC y El Nacional: tres de los seis mayores productores de la era pre-IDV.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18608" cy="1874520"/>
          </a:xfrm>
          <a:prstGeom prst="roundRect">
            <a:avLst>
              <a:gd name="adj" fmla="val 2927"/>
            </a:avLst>
          </a:prstGeom>
          <a:solidFill>
            <a:srgbClr val="F5F5F3"/>
          </a:solidFill>
          <a:ln w="9525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229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187952"/>
            <a:ext cx="412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Autoridad de selección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00600"/>
            <a:ext cx="476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partidos, capitán de la Tri, tres procesos mundialistas — capital social no comercializable.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24448" y="3931920"/>
            <a:ext cx="5318608" cy="1874520"/>
          </a:xfrm>
          <a:prstGeom prst="roundRect">
            <a:avLst>
              <a:gd name="adj" fmla="val 2927"/>
            </a:avLst>
          </a:prstGeom>
          <a:solidFill>
            <a:srgbClr val="F5F5F3"/>
          </a:solidFill>
          <a:ln w="9525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98768" y="4206240"/>
            <a:ext cx="457200" cy="457200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598768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238848" y="4187952"/>
            <a:ext cx="412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Corredor México probado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598768" y="4800600"/>
            <a:ext cx="476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 una década en Liga MX (Monterrey, Pachuca, Dorados), naturalizado — prueba viva del camino que Natio propone.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 — Reporte Estratégico  ·  Confidencial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VERTICAL DE INGRESO RÁPIDO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corredor Ecuador–México: activo, histórico, sin dueño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931920" cy="4160520"/>
          </a:xfrm>
          <a:prstGeom prst="roundRect">
            <a:avLst>
              <a:gd name="adj" fmla="val 1395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21031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futbolistas ecuatorianos activos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Liga MX — temporada 2026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148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Gestionado hoy por una constelación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dispersa de agencias — ninguna lo trata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vertical estratégica explícita.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331388"/>
            <a:ext cx="6705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juegan hoy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37760" y="1790242"/>
            <a:ext cx="6705295" cy="685800"/>
          </a:xfrm>
          <a:prstGeom prst="roundRect">
            <a:avLst>
              <a:gd name="adj" fmla="val 8000"/>
            </a:avLst>
          </a:prstGeom>
          <a:solidFill>
            <a:srgbClr val="F5F5F3"/>
          </a:solidFill>
          <a:ln w="9525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166360" y="186339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Pachuca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2137714"/>
            <a:ext cx="6248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Andrés Micolta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2658922"/>
            <a:ext cx="6705295" cy="685800"/>
          </a:xfrm>
          <a:prstGeom prst="roundRect">
            <a:avLst>
              <a:gd name="adj" fmla="val 8000"/>
            </a:avLst>
          </a:prstGeom>
          <a:solidFill>
            <a:srgbClr val="F5F5F3"/>
          </a:solidFill>
          <a:ln w="9525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166360" y="273207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Santos Laguna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3006394"/>
            <a:ext cx="6248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 </a:t>
            </a:r>
            <a:r>
              <a:rPr lang="en-US" sz="1100" dirty="0" err="1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Gruezo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3527602"/>
            <a:ext cx="6705295" cy="685800"/>
          </a:xfrm>
          <a:prstGeom prst="roundRect">
            <a:avLst>
              <a:gd name="adj" fmla="val 8000"/>
            </a:avLst>
          </a:prstGeom>
          <a:solidFill>
            <a:srgbClr val="F5F5F3"/>
          </a:solidFill>
          <a:ln w="9525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166360" y="360075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Tijuana (Xolos)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166360" y="3875074"/>
            <a:ext cx="6248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 Porozo · Adonis Preciado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4396282"/>
            <a:ext cx="6705295" cy="685800"/>
          </a:xfrm>
          <a:prstGeom prst="roundRect">
            <a:avLst>
              <a:gd name="adj" fmla="val 8000"/>
            </a:avLst>
          </a:prstGeom>
          <a:solidFill>
            <a:srgbClr val="F5F5F3"/>
          </a:solidFill>
          <a:ln w="9525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166360" y="446943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4743754"/>
            <a:ext cx="6248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 err="1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Jhojan</a:t>
            </a:r>
            <a:r>
              <a:rPr lang="en-US" sz="11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Julio · Diogo </a:t>
            </a:r>
            <a:r>
              <a:rPr lang="en-US" sz="1100" dirty="0" err="1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Bagüí</a:t>
            </a:r>
            <a:r>
              <a:rPr lang="en-US" sz="11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r>
              <a:rPr lang="en-US" sz="1100" dirty="0" err="1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Jairón</a:t>
            </a:r>
            <a:r>
              <a:rPr lang="en-US" sz="11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Charcopa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 — Reporte Estratégico  ·  Confidencial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3" name="Shape 16">
            <a:extLst>
              <a:ext uri="{FF2B5EF4-FFF2-40B4-BE49-F238E27FC236}">
                <a16:creationId xmlns:a16="http://schemas.microsoft.com/office/drawing/2014/main" id="{A93DBBDC-BABA-778E-60EB-7A21DB16951C}"/>
              </a:ext>
            </a:extLst>
          </p:cNvPr>
          <p:cNvSpPr/>
          <p:nvPr/>
        </p:nvSpPr>
        <p:spPr>
          <a:xfrm>
            <a:off x="4924906" y="5275797"/>
            <a:ext cx="6705295" cy="685800"/>
          </a:xfrm>
          <a:prstGeom prst="roundRect">
            <a:avLst>
              <a:gd name="adj" fmla="val 8000"/>
            </a:avLst>
          </a:prstGeom>
          <a:solidFill>
            <a:srgbClr val="F5F5F3"/>
          </a:solidFill>
          <a:ln w="9525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1596A1DD-47DB-5B85-F0C6-6851A6175343}"/>
              </a:ext>
            </a:extLst>
          </p:cNvPr>
          <p:cNvSpPr txBox="1"/>
          <p:nvPr/>
        </p:nvSpPr>
        <p:spPr>
          <a:xfrm>
            <a:off x="5153506" y="5348949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Pumas</a:t>
            </a:r>
            <a:endParaRPr lang="en-US" sz="1250" dirty="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54E70DB9-73D8-BA9F-97F1-39A55C4C13E8}"/>
              </a:ext>
            </a:extLst>
          </p:cNvPr>
          <p:cNvSpPr txBox="1"/>
          <p:nvPr/>
        </p:nvSpPr>
        <p:spPr>
          <a:xfrm>
            <a:off x="5153506" y="5623269"/>
            <a:ext cx="6248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 Vite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ARQUITECTURA OPERATIVA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verticales, secuenciadas por horizonte de retorno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93338" cy="3931920"/>
          </a:xfrm>
          <a:prstGeom prst="roundRect">
            <a:avLst>
              <a:gd name="adj" fmla="val 1617"/>
            </a:avLst>
          </a:prstGeom>
          <a:solidFill>
            <a:srgbClr val="F5F5F3"/>
          </a:solidFill>
          <a:ln w="9525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Captación territorial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74720"/>
            <a:ext cx="28446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Esmeraldas, Santo Domingo, Quinindé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2844698" cy="0"/>
          </a:xfrm>
          <a:prstGeom prst="line">
            <a:avLst/>
          </a:prstGeom>
          <a:noFill/>
          <a:ln w="12700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22960" y="4892040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Largo plazo · 3–7 años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99178" y="1828800"/>
            <a:ext cx="3393338" cy="3931920"/>
          </a:xfrm>
          <a:prstGeom prst="roundRect">
            <a:avLst>
              <a:gd name="adj" fmla="val 1617"/>
            </a:avLst>
          </a:prstGeom>
          <a:solidFill>
            <a:srgbClr val="F5F5F3"/>
          </a:solidFill>
          <a:ln w="9525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673498" y="210312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673498" y="278892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Recaptura institucional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673498" y="3474720"/>
            <a:ext cx="28446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Emelec, Barcelona SC, El Nacional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73498" y="4709160"/>
            <a:ext cx="2844698" cy="0"/>
          </a:xfrm>
          <a:prstGeom prst="line">
            <a:avLst/>
          </a:prstGeom>
          <a:noFill/>
          <a:ln w="12700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673498" y="4892040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 plazo · 1–4 años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49717" y="1828800"/>
            <a:ext cx="3393338" cy="3931920"/>
          </a:xfrm>
          <a:prstGeom prst="roundRect">
            <a:avLst>
              <a:gd name="adj" fmla="val 1617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524037" y="210312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524037" y="278892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Corredor de colocación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8524037" y="3474720"/>
            <a:ext cx="28446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 MX / Liga de Expansión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524037" y="4709160"/>
            <a:ext cx="2844698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524037" y="4892040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Corto plazo · desde año 1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 — Reporte Estratégico  ·  Confidencial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PROYECCIÓN CUANTITATIVA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 proyectado a 3 años (verticales V2+V3)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64922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53212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 base: 3–4 colocaciones/año en México + 5–6 jugadores en cartera institucional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223760" y="1737360"/>
            <a:ext cx="4419295" cy="3657600"/>
          </a:xfrm>
          <a:prstGeom prst="roundRect">
            <a:avLst>
              <a:gd name="adj" fmla="val 1500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543800" y="1965960"/>
            <a:ext cx="3779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pool territorial (V1)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543800" y="24231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9–10</a:t>
            </a:r>
            <a:endParaRPr lang="en-US" sz="4200" dirty="0"/>
          </a:p>
        </p:txBody>
      </p:sp>
      <p:sp>
        <p:nvSpPr>
          <p:cNvPr id="9" name="Text 6"/>
          <p:cNvSpPr txBox="1"/>
          <p:nvPr/>
        </p:nvSpPr>
        <p:spPr>
          <a:xfrm>
            <a:off x="7543800" y="3127248"/>
            <a:ext cx="3779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élite no capturados estimados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próxima década (3 cuencas prioritarias)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543800" y="3977640"/>
            <a:ext cx="3779215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543800" y="4160520"/>
            <a:ext cx="3779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€125–145M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7543800" y="4709160"/>
            <a:ext cx="3779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techo teórico de valor de mercado agregado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10 años — no es ingreso proyectado de Natio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 — Reporte Estratégico  ·  Confidencial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activación: 0–18 meses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3063240" y="16733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91840" y="1965960"/>
            <a:ext cx="0" cy="2267712"/>
          </a:xfrm>
          <a:prstGeom prst="line">
            <a:avLst/>
          </a:prstGeom>
          <a:noFill/>
          <a:ln w="9525">
            <a:solidFill>
              <a:srgbClr val="EDED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455109" y="16733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83709" y="1965960"/>
            <a:ext cx="0" cy="2267712"/>
          </a:xfrm>
          <a:prstGeom prst="line">
            <a:avLst/>
          </a:prstGeom>
          <a:noFill/>
          <a:ln w="9525">
            <a:solidFill>
              <a:srgbClr val="EDED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846978" y="16733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75578" y="1965960"/>
            <a:ext cx="0" cy="2267712"/>
          </a:xfrm>
          <a:prstGeom prst="line">
            <a:avLst/>
          </a:prstGeom>
          <a:noFill/>
          <a:ln w="9525">
            <a:solidFill>
              <a:srgbClr val="EDED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238848" y="16733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467448" y="1965960"/>
            <a:ext cx="0" cy="2267712"/>
          </a:xfrm>
          <a:prstGeom prst="line">
            <a:avLst/>
          </a:prstGeom>
          <a:noFill/>
          <a:ln w="9525">
            <a:solidFill>
              <a:srgbClr val="EDED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630717" y="16733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859317" y="1965960"/>
            <a:ext cx="0" cy="2267712"/>
          </a:xfrm>
          <a:prstGeom prst="line">
            <a:avLst/>
          </a:prstGeom>
          <a:noFill/>
          <a:ln w="9525">
            <a:solidFill>
              <a:srgbClr val="EDED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0022586" y="16733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251186" y="1965960"/>
            <a:ext cx="0" cy="2267712"/>
          </a:xfrm>
          <a:prstGeom prst="line">
            <a:avLst/>
          </a:prstGeom>
          <a:noFill/>
          <a:ln w="9525">
            <a:solidFill>
              <a:srgbClr val="EDED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11414455" y="16733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1643055" y="1965960"/>
            <a:ext cx="0" cy="2267712"/>
          </a:xfrm>
          <a:prstGeom prst="line">
            <a:avLst/>
          </a:prstGeom>
          <a:noFill/>
          <a:ln w="9525">
            <a:solidFill>
              <a:srgbClr val="EDED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48640" y="19659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0 — Cimentación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91840" y="2084832"/>
            <a:ext cx="1391869" cy="329184"/>
          </a:xfrm>
          <a:prstGeom prst="roundRect">
            <a:avLst>
              <a:gd name="adj" fmla="val 16667"/>
            </a:avLst>
          </a:prstGeom>
          <a:solidFill>
            <a:srgbClr val="9B9B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48640" y="253288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— Corredor México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19753" y="2651760"/>
            <a:ext cx="3247695" cy="329184"/>
          </a:xfrm>
          <a:prstGeom prst="roundRect">
            <a:avLst>
              <a:gd name="adj" fmla="val 16667"/>
            </a:avLst>
          </a:prstGeom>
          <a:solidFill>
            <a:srgbClr val="F0B4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548640" y="309981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 — Vertical institucional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75578" y="3218688"/>
            <a:ext cx="3711651" cy="329184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548640" y="366674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 — Vertical territorial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147666" y="3785616"/>
            <a:ext cx="6495390" cy="329184"/>
          </a:xfrm>
          <a:prstGeom prst="roundRect">
            <a:avLst>
              <a:gd name="adj" fmla="val 16667"/>
            </a:avLst>
          </a:prstGeom>
          <a:solidFill>
            <a:srgbClr val="C79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3291840" y="1435608"/>
            <a:ext cx="8351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599432"/>
            <a:ext cx="11094415" cy="1143000"/>
          </a:xfrm>
          <a:prstGeom prst="roundRect">
            <a:avLst>
              <a:gd name="adj" fmla="val 4800"/>
            </a:avLst>
          </a:prstGeom>
          <a:solidFill>
            <a:srgbClr val="F5F5F3"/>
          </a:solidFill>
          <a:ln w="9525">
            <a:solidFill>
              <a:srgbClr val="E3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822960" y="4736592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2–4</a:t>
            </a:r>
            <a:endParaRPr lang="en-US" sz="21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5221224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colocaciones en México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3596564" y="4736592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</a:t>
            </a:r>
            <a:endParaRPr lang="en-US" sz="2100" dirty="0"/>
          </a:p>
        </p:txBody>
      </p:sp>
      <p:sp>
        <p:nvSpPr>
          <p:cNvPr id="31" name="Text 29"/>
          <p:cNvSpPr txBox="1"/>
          <p:nvPr/>
        </p:nvSpPr>
        <p:spPr>
          <a:xfrm>
            <a:off x="3596564" y="5221224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acuerdos institucionales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370168" y="4736592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6–10</a:t>
            </a:r>
            <a:endParaRPr lang="en-US" sz="2100" dirty="0"/>
          </a:p>
        </p:txBody>
      </p:sp>
      <p:sp>
        <p:nvSpPr>
          <p:cNvPr id="33" name="Text 31"/>
          <p:cNvSpPr txBox="1"/>
          <p:nvPr/>
        </p:nvSpPr>
        <p:spPr>
          <a:xfrm>
            <a:off x="6370168" y="5221224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prospectos en seguimiento (V1)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9143771" y="4736592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€300–500k</a:t>
            </a:r>
            <a:endParaRPr lang="en-US" sz="2100" dirty="0"/>
          </a:p>
        </p:txBody>
      </p:sp>
      <p:sp>
        <p:nvSpPr>
          <p:cNvPr id="35" name="Text 33"/>
          <p:cNvSpPr txBox="1"/>
          <p:nvPr/>
        </p:nvSpPr>
        <p:spPr>
          <a:xfrm>
            <a:off x="9143771" y="5221224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 acumulado estimado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 — Reporte Estratégico  ·  Confidencial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HONESTIDAD METODOLÓGICA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este reporte no promete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41248" y="1709928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Sesgo de supervivencia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029968"/>
            <a:ext cx="4998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datos muestran de dónde salió el jugador que llegó — no la tasa de conversión real de cada cuenca.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24448" y="182880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617056" y="1709928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Absorción competitiva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617056" y="2029968"/>
            <a:ext cx="4998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club dominante acelera su captura en Santo Domingo y Quinindé, la ventana de oportunidad se reduce con el tiempo.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41248" y="3127248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Concentración en un activo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3447288"/>
            <a:ext cx="4998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 parte de la ventaja diferencial descansa en una sola persona — Walter Ayoví.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24448" y="32461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617056" y="3127248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reputacional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617056" y="3447288"/>
            <a:ext cx="4998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Comunicar mal el posicionamiento puede leerse como confrontación, no como complementariedad.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41248" y="4544568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Cambios regulatorios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864608"/>
            <a:ext cx="4998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Cupos y criterios de fichaje en Liga MX están sujetos a revisión periódica.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24448" y="466344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617056" y="4544568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 largo en V1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617056" y="4864608"/>
            <a:ext cx="4998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vertical de mayor potencial también es la de mayor incertidumbre y más lento retorno.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 — Reporte Estratégico  ·  Confidencial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CONCLUSIÓN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88330"/>
            <a:ext cx="10881360" cy="2019923"/>
          </a:xfrm>
          <a:prstGeom prst="roundRect">
            <a:avLst>
              <a:gd name="adj" fmla="val 7407"/>
            </a:avLst>
          </a:prstGeom>
          <a:solidFill>
            <a:srgbClr val="242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14400" y="2286520"/>
            <a:ext cx="10728960" cy="24523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“El </a:t>
            </a:r>
            <a:r>
              <a:rPr lang="en-US" sz="2000" dirty="0" err="1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talento</a:t>
            </a:r>
            <a:r>
              <a:rPr lang="en-US" sz="2000" dirty="0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ecuatoriano</a:t>
            </a:r>
            <a:r>
              <a:rPr lang="en-US" sz="2000" dirty="0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</a:t>
            </a:r>
            <a:r>
              <a:rPr lang="en-US" sz="2000" dirty="0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hoy, un </a:t>
            </a:r>
            <a:r>
              <a:rPr lang="en-US" sz="2000" dirty="0" err="1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</a:t>
            </a:r>
            <a:r>
              <a:rPr lang="en-US" sz="2000" dirty="0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2000" dirty="0" err="1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gravedad</a:t>
            </a:r>
            <a:r>
              <a:rPr lang="en-US" sz="2000" dirty="0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institucional</a:t>
            </a:r>
            <a:r>
              <a:rPr lang="en-US" sz="2000" dirty="0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dominante</a:t>
            </a:r>
            <a:r>
              <a:rPr lang="en-US" sz="2000" dirty="0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br>
              <a:rPr lang="en-US" sz="2000" dirty="0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2000" dirty="0">
              <a:solidFill>
                <a:srgbClr val="F5F5F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sz="2000" dirty="0" err="1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</a:t>
            </a:r>
            <a:r>
              <a:rPr lang="en-US" sz="2000" dirty="0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</a:t>
            </a:r>
            <a:r>
              <a:rPr lang="en-US" sz="2000" dirty="0" err="1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necesita</a:t>
            </a:r>
            <a:r>
              <a:rPr lang="en-US" sz="2000" dirty="0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desplazarlo</a:t>
            </a:r>
            <a:r>
              <a:rPr lang="en-US" sz="2000" dirty="0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br>
              <a:rPr lang="en-US" sz="2000" dirty="0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2000" dirty="0">
              <a:solidFill>
                <a:srgbClr val="F5F5F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sz="2000" dirty="0" err="1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Necesita</a:t>
            </a:r>
            <a:r>
              <a:rPr lang="en-US" sz="2000" dirty="0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llegar</a:t>
            </a:r>
            <a:r>
              <a:rPr lang="en-US" sz="2000" dirty="0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primero </a:t>
            </a:r>
            <a:r>
              <a:rPr lang="en-US" sz="2000" dirty="0" err="1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</a:t>
            </a:r>
            <a:r>
              <a:rPr lang="en-US" sz="2000" dirty="0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</a:t>
            </a:r>
            <a:r>
              <a:rPr lang="en-US" sz="2000" dirty="0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 </a:t>
            </a:r>
            <a:r>
              <a:rPr lang="en-US" sz="2000" dirty="0" err="1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donde</a:t>
            </a:r>
            <a:r>
              <a:rPr lang="en-US" sz="2000" dirty="0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ese </a:t>
            </a:r>
            <a:r>
              <a:rPr lang="en-US" sz="2000" dirty="0" err="1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</a:t>
            </a:r>
            <a:r>
              <a:rPr lang="en-US" sz="2000" dirty="0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2000" dirty="0" err="1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gravedad</a:t>
            </a:r>
            <a:r>
              <a:rPr lang="en-US" sz="2000" dirty="0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todavía</a:t>
            </a:r>
            <a:r>
              <a:rPr lang="en-US" sz="2000" dirty="0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ha </a:t>
            </a:r>
            <a:r>
              <a:rPr lang="en-US" sz="2000" dirty="0" err="1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llegado</a:t>
            </a:r>
            <a:r>
              <a:rPr lang="en-US" sz="2000" dirty="0">
                <a:solidFill>
                  <a:srgbClr val="F5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.”</a:t>
            </a:r>
          </a:p>
          <a:p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Ecuador Después de IDV  —  Presentación al Management — </a:t>
            </a:r>
            <a:r>
              <a:rPr lang="en-US" sz="900" dirty="0" err="1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</a:t>
            </a:r>
            <a:r>
              <a:rPr lang="en-US" sz="9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2026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9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4951E0DD-AE35-A296-7D9F-A432B1264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411480"/>
            <a:ext cx="1554480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1307</Words>
  <Application>Microsoft Macintosh PowerPoint</Application>
  <PresentationFormat>Widescreen</PresentationFormat>
  <Paragraphs>255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Agregador y su Sombra — Reporte Estratégico</dc:title>
  <dc:subject>PptxGenJS Presentation</dc:subject>
  <dc:creator>Natio Sports Management</dc:creator>
  <cp:lastModifiedBy>Mario Alberto Garza Livas</cp:lastModifiedBy>
  <cp:revision>9</cp:revision>
  <dcterms:created xsi:type="dcterms:W3CDTF">2026-08-27T20:03:35Z</dcterms:created>
  <dcterms:modified xsi:type="dcterms:W3CDTF">2026-08-27T21:43:15Z</dcterms:modified>
</cp:coreProperties>
</file>